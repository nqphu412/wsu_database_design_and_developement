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2"/>
    <p:restoredTop sz="94682"/>
  </p:normalViewPr>
  <p:slideViewPr>
    <p:cSldViewPr snapToGrid="0">
      <p:cViewPr varScale="1">
        <p:scale>
          <a:sx n="119" d="100"/>
          <a:sy n="119" d="100"/>
        </p:scale>
        <p:origin x="8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9E17-D8B4-DCB6-E10E-E3B2069E2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E7639-7982-7552-05D5-D756363D8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4E755-CD5E-9D2F-BC6C-F7DD7A58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7F887-E5B7-398F-9338-1C4DF6DD0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54D3B-99C3-622C-2ADE-15920E15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317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CD75-2B7F-766B-EE4B-A8DE8BBD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D9969-8C58-FDD2-2777-4061B490A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8D3F-AC2E-92F3-C1BD-51A3962D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1064-E260-CFDF-9EDE-E4670C79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C7977-5021-869E-F133-E2C492F0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1797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8457-957B-4F95-F1E2-03BC43A2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91905-1F57-39C3-3261-739020B10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B09EB-0EA7-3158-7646-0085A725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5E5C8-0330-A928-39AE-4C804355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F2123-2A66-54E9-E866-0098575E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4384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047C-7A06-6272-5119-1004FEFD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9947-3041-DE36-833C-11FBBEC80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E82F5-D505-845B-E529-73EFCD759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1163E-0BAF-FA2F-3DA4-6C892984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2835F-D1CD-5752-F7B0-C19B24DB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BE3E5-3F76-B139-E9FC-8AF14F24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8937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4D3F-3FD0-11B6-3C14-477E0332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2141E-007A-8F5C-5A70-54E9FF42E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CDDE8-3A89-4786-0CE0-38BDC9BA7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FB745C-3C72-2797-2101-AD6038CC4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115A1-257C-B661-1610-AFBEA7D23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105CB-DB6D-6489-5805-74D7D5A1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DB597-6FA1-47D4-D6D7-33F05DC1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4D9DC-B4FC-9DAF-47DC-88F4D331F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724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4629-0F6B-DC9F-8E14-EAA189BE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21533-6DF2-E9AA-D372-2D686F88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0C405-2B50-F10D-92A1-7030FD2B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21173-6F34-0FD2-A1D4-BCF46637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6274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3BA0B-D464-A361-DD79-1E7C92D0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D73B9-97E9-10A5-30F2-CE90836F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916AF-F26C-AC61-402A-88322780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8268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E3B6-345C-1E88-F59C-AA7E5A1EA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DA0BD-B861-EF71-DD84-881DED42E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EB96C-1AE9-B8F9-2C49-40DF1BA70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14127-B299-2239-5AFF-D3FF70F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6DA79-A64B-6D24-618C-61CE4DC2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85895-1BC6-6703-6F6D-F9F44044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797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07B9-DF0F-3752-FEFA-7183B608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6062F2-A512-C5FF-C1CB-BD1B8BC4A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24997-4885-2A95-2E2B-B7D1FDAD8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E4602-7010-060A-7301-7C89939F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3EBAB-B9E3-A45B-09F6-FB3949A0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00104-CFEC-B546-3395-E87572A0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937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3865-7B36-E980-00F0-CF2FE667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7BFB3-0172-53D7-51F2-E4E9B3C64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A6E3C-9AD8-D46E-4B3C-87BC5F3C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44EEF-7906-1F9C-92C1-2FDCCEEB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1BAD-3777-AEC7-CD86-766AF212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1832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1B16D-64E8-9592-134E-00966A98C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D86DE-2BE5-B843-10A5-8C760615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6F05F-8597-74C8-C3DD-B0718280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DC45-5C38-4158-CAC4-13446339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0793A-9C0B-1A47-0470-97878F68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2615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64402-AEE2-A3A5-AF8B-7F317126F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A2DAB-4421-1BF1-860D-542C64BF6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4249F-65DC-6350-482D-9D1922C17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F62E7-80EB-E044-9080-A046BC60CDB9}" type="datetimeFigureOut">
              <a:rPr lang="en-VN" smtClean="0"/>
              <a:t>08/10/2024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D41BE-1471-08FE-6F91-5D6AD6476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93FF0-4496-25B2-43E4-FD7215946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54E61-25D9-334F-AAF7-C90779E19EE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815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709EBC-25E6-39AC-BA15-988733498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035666"/>
              </p:ext>
            </p:extLst>
          </p:nvPr>
        </p:nvGraphicFramePr>
        <p:xfrm>
          <a:off x="1943865" y="1303560"/>
          <a:ext cx="8128001" cy="5913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0596948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775059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101996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134454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90841626"/>
                    </a:ext>
                  </a:extLst>
                </a:gridCol>
                <a:gridCol w="1284251">
                  <a:extLst>
                    <a:ext uri="{9D8B030D-6E8A-4147-A177-3AD203B41FA5}">
                      <a16:colId xmlns:a16="http://schemas.microsoft.com/office/drawing/2014/main" val="2647878624"/>
                    </a:ext>
                  </a:extLst>
                </a:gridCol>
                <a:gridCol w="1038035">
                  <a:extLst>
                    <a:ext uri="{9D8B030D-6E8A-4147-A177-3AD203B41FA5}">
                      <a16:colId xmlns:a16="http://schemas.microsoft.com/office/drawing/2014/main" val="2370106787"/>
                    </a:ext>
                  </a:extLst>
                </a:gridCol>
              </a:tblGrid>
              <a:tr h="591341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mark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tutor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allowance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credit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67201"/>
                  </a:ext>
                </a:extLst>
              </a:tr>
            </a:tbl>
          </a:graphicData>
        </a:graphic>
      </p:graphicFrame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2420740C-B996-3608-1771-08735831E596}"/>
              </a:ext>
            </a:extLst>
          </p:cNvPr>
          <p:cNvCxnSpPr>
            <a:cxnSpLocks/>
          </p:cNvCxnSpPr>
          <p:nvPr/>
        </p:nvCxnSpPr>
        <p:spPr>
          <a:xfrm flipV="1">
            <a:off x="5794870" y="2082190"/>
            <a:ext cx="3745736" cy="870330"/>
          </a:xfrm>
          <a:prstGeom prst="bentConnector3">
            <a:avLst>
              <a:gd name="adj1" fmla="val 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DD67C0DB-BF6C-41A6-D2F0-FF673DE6773C}"/>
              </a:ext>
            </a:extLst>
          </p:cNvPr>
          <p:cNvCxnSpPr>
            <a:cxnSpLocks/>
          </p:cNvCxnSpPr>
          <p:nvPr/>
        </p:nvCxnSpPr>
        <p:spPr>
          <a:xfrm>
            <a:off x="2445745" y="2192357"/>
            <a:ext cx="3710846" cy="760163"/>
          </a:xfrm>
          <a:prstGeom prst="bentConnector3">
            <a:avLst>
              <a:gd name="adj1" fmla="val 1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F33341A8-1842-D575-5FE0-2A6100627DAE}"/>
              </a:ext>
            </a:extLst>
          </p:cNvPr>
          <p:cNvCxnSpPr/>
          <p:nvPr/>
        </p:nvCxnSpPr>
        <p:spPr>
          <a:xfrm>
            <a:off x="3624549" y="66923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9C953738-07F6-CAA3-6674-870F2FF7FC36}"/>
              </a:ext>
            </a:extLst>
          </p:cNvPr>
          <p:cNvCxnSpPr/>
          <p:nvPr/>
        </p:nvCxnSpPr>
        <p:spPr>
          <a:xfrm>
            <a:off x="4740925" y="66923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83C57BCE-0BA5-518D-7D8F-7E00362E395D}"/>
              </a:ext>
            </a:extLst>
          </p:cNvPr>
          <p:cNvCxnSpPr/>
          <p:nvPr/>
        </p:nvCxnSpPr>
        <p:spPr>
          <a:xfrm>
            <a:off x="5739788" y="66923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E4280BB-B5B0-467B-DC51-C419A7749475}"/>
              </a:ext>
            </a:extLst>
          </p:cNvPr>
          <p:cNvCxnSpPr/>
          <p:nvPr/>
        </p:nvCxnSpPr>
        <p:spPr>
          <a:xfrm>
            <a:off x="6856164" y="669233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69134E4-E6E3-2923-0C13-E7097AAF31D4}"/>
              </a:ext>
            </a:extLst>
          </p:cNvPr>
          <p:cNvCxnSpPr/>
          <p:nvPr/>
        </p:nvCxnSpPr>
        <p:spPr>
          <a:xfrm flipV="1">
            <a:off x="2743200" y="669233"/>
            <a:ext cx="1255923" cy="432453"/>
          </a:xfrm>
          <a:prstGeom prst="bentConnector3">
            <a:avLst>
              <a:gd name="adj1" fmla="val 87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7E837A-D10E-BA45-3F21-D06E504E8829}"/>
              </a:ext>
            </a:extLst>
          </p:cNvPr>
          <p:cNvCxnSpPr/>
          <p:nvPr/>
        </p:nvCxnSpPr>
        <p:spPr>
          <a:xfrm flipV="1">
            <a:off x="3624549" y="669233"/>
            <a:ext cx="0" cy="4324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629421BB-9C35-B19B-8E94-DDDE5BD9CA31}"/>
              </a:ext>
            </a:extLst>
          </p:cNvPr>
          <p:cNvCxnSpPr>
            <a:cxnSpLocks/>
          </p:cNvCxnSpPr>
          <p:nvPr/>
        </p:nvCxnSpPr>
        <p:spPr>
          <a:xfrm flipV="1">
            <a:off x="7667738" y="1976130"/>
            <a:ext cx="605930" cy="293345"/>
          </a:xfrm>
          <a:prstGeom prst="bentConnector3">
            <a:avLst>
              <a:gd name="adj1" fmla="val 997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D7751DE2-09F2-E012-DD84-A308094C422E}"/>
              </a:ext>
            </a:extLst>
          </p:cNvPr>
          <p:cNvCxnSpPr>
            <a:cxnSpLocks/>
          </p:cNvCxnSpPr>
          <p:nvPr/>
        </p:nvCxnSpPr>
        <p:spPr>
          <a:xfrm>
            <a:off x="7289746" y="2082190"/>
            <a:ext cx="680957" cy="187285"/>
          </a:xfrm>
          <a:prstGeom prst="bentConnector3">
            <a:avLst>
              <a:gd name="adj1" fmla="val 260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14A45F67-EA7B-7D0F-B0AE-CB8077B91309}"/>
              </a:ext>
            </a:extLst>
          </p:cNvPr>
          <p:cNvCxnSpPr>
            <a:cxnSpLocks/>
          </p:cNvCxnSpPr>
          <p:nvPr/>
        </p:nvCxnSpPr>
        <p:spPr>
          <a:xfrm flipV="1">
            <a:off x="7754544" y="2096774"/>
            <a:ext cx="784034" cy="480631"/>
          </a:xfrm>
          <a:prstGeom prst="bentConnector3">
            <a:avLst>
              <a:gd name="adj1" fmla="val 991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09614D55-DA23-F143-4206-CFE4CE474FEE}"/>
              </a:ext>
            </a:extLst>
          </p:cNvPr>
          <p:cNvCxnSpPr>
            <a:cxnSpLocks/>
          </p:cNvCxnSpPr>
          <p:nvPr/>
        </p:nvCxnSpPr>
        <p:spPr>
          <a:xfrm>
            <a:off x="5794870" y="2107021"/>
            <a:ext cx="2056485" cy="465417"/>
          </a:xfrm>
          <a:prstGeom prst="bentConnector3">
            <a:avLst>
              <a:gd name="adj1" fmla="val 30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9AD17E-9E1A-647E-24D3-9BE841C48B53}"/>
              </a:ext>
            </a:extLst>
          </p:cNvPr>
          <p:cNvSpPr txBox="1"/>
          <p:nvPr/>
        </p:nvSpPr>
        <p:spPr>
          <a:xfrm>
            <a:off x="1090670" y="3536414"/>
            <a:ext cx="89811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sym typeface="Wingdings" pitchFamily="2" charset="2"/>
              </a:rPr>
              <a:t>Above is </a:t>
            </a:r>
            <a:r>
              <a:rPr lang="en-VN" dirty="0">
                <a:solidFill>
                  <a:srgbClr val="FF0000"/>
                </a:solidFill>
                <a:sym typeface="Wingdings" pitchFamily="2" charset="2"/>
              </a:rPr>
              <a:t>1NF</a:t>
            </a:r>
            <a:r>
              <a:rPr lang="en-VN" dirty="0">
                <a:sym typeface="Wingdings" pitchFamily="2" charset="2"/>
              </a:rPr>
              <a:t> when there is still a partial dependency (FD2)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>
                <a:sym typeface="Wingdings" pitchFamily="2" charset="2"/>
              </a:rPr>
              <a:t>FD1: unit, student  mark, tutor</a:t>
            </a:r>
            <a:endParaRPr lang="en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FD2: unit </a:t>
            </a:r>
            <a:r>
              <a:rPr lang="en-VN" dirty="0">
                <a:sym typeface="Wingdings" pitchFamily="2" charset="2"/>
              </a:rPr>
              <a:t> credit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>
                <a:sym typeface="Wingdings" pitchFamily="2" charset="2"/>
              </a:rPr>
              <a:t>FD3: tutor 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>
                <a:sym typeface="Wingdings" pitchFamily="2" charset="2"/>
              </a:rPr>
              <a:t>FD4: level  allowance</a:t>
            </a:r>
            <a:endParaRPr lang="en-VN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BE996F5-3DE5-8CAF-F572-6C8BF3E786F1}"/>
              </a:ext>
            </a:extLst>
          </p:cNvPr>
          <p:cNvCxnSpPr/>
          <p:nvPr/>
        </p:nvCxnSpPr>
        <p:spPr>
          <a:xfrm flipV="1">
            <a:off x="6985864" y="2000961"/>
            <a:ext cx="0" cy="571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392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1C92C-2263-59C4-3B1C-46C0A5B88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260602"/>
              </p:ext>
            </p:extLst>
          </p:nvPr>
        </p:nvGraphicFramePr>
        <p:xfrm>
          <a:off x="838200" y="1825625"/>
          <a:ext cx="7089966" cy="5913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5120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1255782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904681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2631661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24633098"/>
                    </a:ext>
                  </a:extLst>
                </a:gridCol>
                <a:gridCol w="1284251">
                  <a:extLst>
                    <a:ext uri="{9D8B030D-6E8A-4147-A177-3AD203B41FA5}">
                      <a16:colId xmlns:a16="http://schemas.microsoft.com/office/drawing/2014/main" val="1601302666"/>
                    </a:ext>
                  </a:extLst>
                </a:gridCol>
              </a:tblGrid>
              <a:tr h="591341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mark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tutor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allowance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582883"/>
                  </a:ext>
                </a:extLst>
              </a:tr>
            </a:tbl>
          </a:graphicData>
        </a:graphic>
      </p:graphicFrame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837AED10-388A-9891-0F9F-211D562A6AAE}"/>
              </a:ext>
            </a:extLst>
          </p:cNvPr>
          <p:cNvCxnSpPr/>
          <p:nvPr/>
        </p:nvCxnSpPr>
        <p:spPr>
          <a:xfrm>
            <a:off x="2450640" y="126090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BD3A4CBF-3726-DE58-7360-942B63DCE320}"/>
              </a:ext>
            </a:extLst>
          </p:cNvPr>
          <p:cNvCxnSpPr/>
          <p:nvPr/>
        </p:nvCxnSpPr>
        <p:spPr>
          <a:xfrm>
            <a:off x="3567016" y="126090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3B2DCD09-2E1A-A947-3015-D9D27B6EEA3C}"/>
              </a:ext>
            </a:extLst>
          </p:cNvPr>
          <p:cNvCxnSpPr/>
          <p:nvPr/>
        </p:nvCxnSpPr>
        <p:spPr>
          <a:xfrm>
            <a:off x="4565879" y="126090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09677F4-C10B-B99F-856E-6AD800B38733}"/>
              </a:ext>
            </a:extLst>
          </p:cNvPr>
          <p:cNvCxnSpPr/>
          <p:nvPr/>
        </p:nvCxnSpPr>
        <p:spPr>
          <a:xfrm>
            <a:off x="5682255" y="1260903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82421C1A-8020-350D-4CCA-3F977E6E7FA8}"/>
              </a:ext>
            </a:extLst>
          </p:cNvPr>
          <p:cNvCxnSpPr/>
          <p:nvPr/>
        </p:nvCxnSpPr>
        <p:spPr>
          <a:xfrm flipV="1">
            <a:off x="1569291" y="1260903"/>
            <a:ext cx="1255923" cy="432453"/>
          </a:xfrm>
          <a:prstGeom prst="bentConnector3">
            <a:avLst>
              <a:gd name="adj1" fmla="val 87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27BEFF-17FE-0130-5F74-C91FD5B837A3}"/>
              </a:ext>
            </a:extLst>
          </p:cNvPr>
          <p:cNvCxnSpPr/>
          <p:nvPr/>
        </p:nvCxnSpPr>
        <p:spPr>
          <a:xfrm flipV="1">
            <a:off x="2450640" y="1260903"/>
            <a:ext cx="0" cy="4324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C745898-2FD2-3D3E-DFD7-01408A17B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31664"/>
              </p:ext>
            </p:extLst>
          </p:nvPr>
        </p:nvGraphicFramePr>
        <p:xfrm>
          <a:off x="1193203" y="5009398"/>
          <a:ext cx="2921000" cy="4614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57581567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733436895"/>
                    </a:ext>
                  </a:extLst>
                </a:gridCol>
              </a:tblGrid>
              <a:tr h="461434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credit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32283"/>
                  </a:ext>
                </a:extLst>
              </a:tr>
            </a:tbl>
          </a:graphicData>
        </a:graphic>
      </p:graphicFrame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F8C9B50-7941-E6F7-FFDF-C6C84214B196}"/>
              </a:ext>
            </a:extLst>
          </p:cNvPr>
          <p:cNvCxnSpPr>
            <a:cxnSpLocks/>
          </p:cNvCxnSpPr>
          <p:nvPr/>
        </p:nvCxnSpPr>
        <p:spPr>
          <a:xfrm flipV="1">
            <a:off x="2375068" y="5562804"/>
            <a:ext cx="784034" cy="480631"/>
          </a:xfrm>
          <a:prstGeom prst="bentConnector3">
            <a:avLst>
              <a:gd name="adj1" fmla="val 991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4465CE72-7BA7-2742-2C35-6F0B55261ED1}"/>
              </a:ext>
            </a:extLst>
          </p:cNvPr>
          <p:cNvCxnSpPr/>
          <p:nvPr/>
        </p:nvCxnSpPr>
        <p:spPr>
          <a:xfrm>
            <a:off x="2013347" y="5668864"/>
            <a:ext cx="753738" cy="374571"/>
          </a:xfrm>
          <a:prstGeom prst="bentConnector3">
            <a:avLst>
              <a:gd name="adj1" fmla="val 17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AE12DDF-0034-7E4E-A8AF-AA3137F5E75A}"/>
              </a:ext>
            </a:extLst>
          </p:cNvPr>
          <p:cNvCxnSpPr>
            <a:cxnSpLocks/>
          </p:cNvCxnSpPr>
          <p:nvPr/>
        </p:nvCxnSpPr>
        <p:spPr>
          <a:xfrm flipV="1">
            <a:off x="6526880" y="2457246"/>
            <a:ext cx="605930" cy="293345"/>
          </a:xfrm>
          <a:prstGeom prst="bentConnector3">
            <a:avLst>
              <a:gd name="adj1" fmla="val 997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236E2FE-0B69-7978-C5C2-4FFD88EFC2CB}"/>
              </a:ext>
            </a:extLst>
          </p:cNvPr>
          <p:cNvCxnSpPr>
            <a:cxnSpLocks/>
          </p:cNvCxnSpPr>
          <p:nvPr/>
        </p:nvCxnSpPr>
        <p:spPr>
          <a:xfrm>
            <a:off x="6148888" y="2563306"/>
            <a:ext cx="680957" cy="187285"/>
          </a:xfrm>
          <a:prstGeom prst="bentConnector3">
            <a:avLst>
              <a:gd name="adj1" fmla="val 260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59E4FA6F-288E-E9A7-14F5-BF1F9B42BC1B}"/>
              </a:ext>
            </a:extLst>
          </p:cNvPr>
          <p:cNvCxnSpPr>
            <a:cxnSpLocks/>
          </p:cNvCxnSpPr>
          <p:nvPr/>
        </p:nvCxnSpPr>
        <p:spPr>
          <a:xfrm flipV="1">
            <a:off x="6613686" y="2577890"/>
            <a:ext cx="784034" cy="480631"/>
          </a:xfrm>
          <a:prstGeom prst="bentConnector3">
            <a:avLst>
              <a:gd name="adj1" fmla="val 991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3DE67F6-3208-D7EA-6805-C423B89AF2FB}"/>
              </a:ext>
            </a:extLst>
          </p:cNvPr>
          <p:cNvCxnSpPr>
            <a:cxnSpLocks/>
          </p:cNvCxnSpPr>
          <p:nvPr/>
        </p:nvCxnSpPr>
        <p:spPr>
          <a:xfrm>
            <a:off x="4654012" y="2588137"/>
            <a:ext cx="2056485" cy="465417"/>
          </a:xfrm>
          <a:prstGeom prst="bentConnector3">
            <a:avLst>
              <a:gd name="adj1" fmla="val 30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D54DD9-83A8-E49D-1E5E-8F480D9863B6}"/>
              </a:ext>
            </a:extLst>
          </p:cNvPr>
          <p:cNvCxnSpPr/>
          <p:nvPr/>
        </p:nvCxnSpPr>
        <p:spPr>
          <a:xfrm flipV="1">
            <a:off x="5845006" y="2482077"/>
            <a:ext cx="0" cy="571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06F1675-8597-4DED-C21F-7D53E696FA5D}"/>
              </a:ext>
            </a:extLst>
          </p:cNvPr>
          <p:cNvSpPr txBox="1"/>
          <p:nvPr/>
        </p:nvSpPr>
        <p:spPr>
          <a:xfrm>
            <a:off x="5009014" y="5166685"/>
            <a:ext cx="598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</a:t>
            </a:r>
            <a:r>
              <a:rPr lang="en-VN" b="1" dirty="0"/>
              <a:t>credit</a:t>
            </a:r>
            <a:r>
              <a:rPr lang="en-VN" dirty="0"/>
              <a:t> goes directly to </a:t>
            </a:r>
            <a:r>
              <a:rPr lang="en-VN" dirty="0">
                <a:solidFill>
                  <a:srgbClr val="FF0000"/>
                </a:solidFill>
              </a:rPr>
              <a:t>3NF</a:t>
            </a:r>
            <a:r>
              <a:rPr lang="en-VN" dirty="0"/>
              <a:t> after being separated, because now there is no partial or transitive dependency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9EFEBD-2AAD-A3DD-03D4-3494DB666354}"/>
              </a:ext>
            </a:extLst>
          </p:cNvPr>
          <p:cNvSpPr txBox="1"/>
          <p:nvPr/>
        </p:nvSpPr>
        <p:spPr>
          <a:xfrm>
            <a:off x="8412480" y="1463040"/>
            <a:ext cx="30659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enrolment is still </a:t>
            </a:r>
            <a:r>
              <a:rPr lang="en-VN" dirty="0">
                <a:solidFill>
                  <a:srgbClr val="FF0000"/>
                </a:solidFill>
              </a:rPr>
              <a:t>2NF</a:t>
            </a:r>
            <a:r>
              <a:rPr lang="en-VN" dirty="0"/>
              <a:t> because there are transitive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VN" dirty="0"/>
              <a:t>llowance depends on unit via level and tutor</a:t>
            </a:r>
          </a:p>
        </p:txBody>
      </p:sp>
    </p:spTree>
    <p:extLst>
      <p:ext uri="{BB962C8B-B14F-4D97-AF65-F5344CB8AC3E}">
        <p14:creationId xmlns:p14="http://schemas.microsoft.com/office/powerpoint/2010/main" val="212083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C111-6816-C8DE-4E23-31B2542A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FA2BE8-F7EA-2B36-D338-29D99DC29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612830"/>
              </p:ext>
            </p:extLst>
          </p:nvPr>
        </p:nvGraphicFramePr>
        <p:xfrm>
          <a:off x="838200" y="1825625"/>
          <a:ext cx="5805715" cy="5913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5120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1255782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904681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2631661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24633098"/>
                    </a:ext>
                  </a:extLst>
                </a:gridCol>
              </a:tblGrid>
              <a:tr h="591341">
                <a:tc>
                  <a:txBody>
                    <a:bodyPr/>
                    <a:lstStyle/>
                    <a:p>
                      <a:pPr algn="ctr"/>
                      <a:r>
                        <a:rPr lang="en-VN" b="1" u="sng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mark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tutor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582883"/>
                  </a:ext>
                </a:extLst>
              </a:tr>
            </a:tbl>
          </a:graphicData>
        </a:graphic>
      </p:graphicFrame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562CB384-895A-6AEF-3F58-271BED33B311}"/>
              </a:ext>
            </a:extLst>
          </p:cNvPr>
          <p:cNvCxnSpPr/>
          <p:nvPr/>
        </p:nvCxnSpPr>
        <p:spPr>
          <a:xfrm>
            <a:off x="2450640" y="126090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8419E394-27CA-5D21-DE6C-4B781600D6D5}"/>
              </a:ext>
            </a:extLst>
          </p:cNvPr>
          <p:cNvCxnSpPr/>
          <p:nvPr/>
        </p:nvCxnSpPr>
        <p:spPr>
          <a:xfrm>
            <a:off x="3567016" y="126090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0ABD317-B96D-8673-9DBC-B97B06F2914F}"/>
              </a:ext>
            </a:extLst>
          </p:cNvPr>
          <p:cNvCxnSpPr/>
          <p:nvPr/>
        </p:nvCxnSpPr>
        <p:spPr>
          <a:xfrm>
            <a:off x="4565879" y="1260904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AE1A659-FB72-D917-6C1D-EC82278ACCE7}"/>
              </a:ext>
            </a:extLst>
          </p:cNvPr>
          <p:cNvCxnSpPr/>
          <p:nvPr/>
        </p:nvCxnSpPr>
        <p:spPr>
          <a:xfrm flipV="1">
            <a:off x="1569291" y="1260903"/>
            <a:ext cx="1255923" cy="432453"/>
          </a:xfrm>
          <a:prstGeom prst="bentConnector3">
            <a:avLst>
              <a:gd name="adj1" fmla="val 87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20498D-F5BA-E33F-9D9A-39B94200FB46}"/>
              </a:ext>
            </a:extLst>
          </p:cNvPr>
          <p:cNvCxnSpPr/>
          <p:nvPr/>
        </p:nvCxnSpPr>
        <p:spPr>
          <a:xfrm flipV="1">
            <a:off x="2450640" y="1260903"/>
            <a:ext cx="0" cy="4324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8E855F6-2CC5-4409-27B8-21C0E168C568}"/>
              </a:ext>
            </a:extLst>
          </p:cNvPr>
          <p:cNvGraphicFramePr>
            <a:graphicFrameLocks noGrp="1"/>
          </p:cNvGraphicFramePr>
          <p:nvPr/>
        </p:nvGraphicFramePr>
        <p:xfrm>
          <a:off x="1193203" y="5009398"/>
          <a:ext cx="2921000" cy="4614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57581567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733436895"/>
                    </a:ext>
                  </a:extLst>
                </a:gridCol>
              </a:tblGrid>
              <a:tr h="461434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credit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32283"/>
                  </a:ext>
                </a:extLst>
              </a:tr>
            </a:tbl>
          </a:graphicData>
        </a:graphic>
      </p:graphicFrame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8A35E04B-C086-0500-C055-167B276D9612}"/>
              </a:ext>
            </a:extLst>
          </p:cNvPr>
          <p:cNvCxnSpPr>
            <a:cxnSpLocks/>
          </p:cNvCxnSpPr>
          <p:nvPr/>
        </p:nvCxnSpPr>
        <p:spPr>
          <a:xfrm flipV="1">
            <a:off x="2375068" y="5562804"/>
            <a:ext cx="784034" cy="480631"/>
          </a:xfrm>
          <a:prstGeom prst="bentConnector3">
            <a:avLst>
              <a:gd name="adj1" fmla="val 991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C0E696C-CD0F-9EE7-81DD-C9CAA3A8785D}"/>
              </a:ext>
            </a:extLst>
          </p:cNvPr>
          <p:cNvCxnSpPr/>
          <p:nvPr/>
        </p:nvCxnSpPr>
        <p:spPr>
          <a:xfrm>
            <a:off x="2013347" y="5668864"/>
            <a:ext cx="753738" cy="374571"/>
          </a:xfrm>
          <a:prstGeom prst="bentConnector3">
            <a:avLst>
              <a:gd name="adj1" fmla="val 17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DFFACADC-CE0A-17FE-5925-3746348F89C5}"/>
              </a:ext>
            </a:extLst>
          </p:cNvPr>
          <p:cNvCxnSpPr>
            <a:cxnSpLocks/>
          </p:cNvCxnSpPr>
          <p:nvPr/>
        </p:nvCxnSpPr>
        <p:spPr>
          <a:xfrm>
            <a:off x="4842157" y="2588137"/>
            <a:ext cx="1178807" cy="465417"/>
          </a:xfrm>
          <a:prstGeom prst="bentConnector3">
            <a:avLst>
              <a:gd name="adj1" fmla="val 7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B0884A-88D7-EFBA-3E82-C491B46488C8}"/>
              </a:ext>
            </a:extLst>
          </p:cNvPr>
          <p:cNvCxnSpPr/>
          <p:nvPr/>
        </p:nvCxnSpPr>
        <p:spPr>
          <a:xfrm flipV="1">
            <a:off x="6020964" y="2482077"/>
            <a:ext cx="0" cy="571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69E41D3-DBDD-0D20-F5BB-528416942A27}"/>
              </a:ext>
            </a:extLst>
          </p:cNvPr>
          <p:cNvSpPr txBox="1"/>
          <p:nvPr/>
        </p:nvSpPr>
        <p:spPr>
          <a:xfrm>
            <a:off x="5009014" y="5166685"/>
            <a:ext cx="598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</a:t>
            </a:r>
            <a:r>
              <a:rPr lang="en-VN" b="1" dirty="0"/>
              <a:t>credit</a:t>
            </a:r>
            <a:r>
              <a:rPr lang="en-VN" dirty="0"/>
              <a:t> goes directly to </a:t>
            </a:r>
            <a:r>
              <a:rPr lang="en-VN" dirty="0">
                <a:solidFill>
                  <a:srgbClr val="FF0000"/>
                </a:solidFill>
              </a:rPr>
              <a:t>3NF</a:t>
            </a:r>
            <a:r>
              <a:rPr lang="en-VN" dirty="0"/>
              <a:t> after being separated, because now there is no partial or transitive dependency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04E800-188B-B73D-5FB1-3E117EAE4560}"/>
              </a:ext>
            </a:extLst>
          </p:cNvPr>
          <p:cNvSpPr txBox="1"/>
          <p:nvPr/>
        </p:nvSpPr>
        <p:spPr>
          <a:xfrm>
            <a:off x="7199772" y="1463040"/>
            <a:ext cx="4278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enrolment is still </a:t>
            </a:r>
            <a:r>
              <a:rPr lang="en-VN" dirty="0">
                <a:solidFill>
                  <a:srgbClr val="FF0000"/>
                </a:solidFill>
              </a:rPr>
              <a:t>2NF</a:t>
            </a:r>
            <a:r>
              <a:rPr lang="en-VN" dirty="0"/>
              <a:t> because there are transitive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Level</a:t>
            </a:r>
            <a:r>
              <a:rPr lang="en-VN" dirty="0"/>
              <a:t> depends on unit via tutor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5595BA1-7D0A-5E6B-A425-852136B52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83596"/>
              </p:ext>
            </p:extLst>
          </p:nvPr>
        </p:nvGraphicFramePr>
        <p:xfrm>
          <a:off x="1193203" y="3523276"/>
          <a:ext cx="2921000" cy="4614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57581567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733436895"/>
                    </a:ext>
                  </a:extLst>
                </a:gridCol>
              </a:tblGrid>
              <a:tr h="461434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allowance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32283"/>
                  </a:ext>
                </a:extLst>
              </a:tr>
            </a:tbl>
          </a:graphicData>
        </a:graphic>
      </p:graphicFrame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AE04E72-F369-2803-7A22-082F095866E9}"/>
              </a:ext>
            </a:extLst>
          </p:cNvPr>
          <p:cNvCxnSpPr>
            <a:cxnSpLocks/>
          </p:cNvCxnSpPr>
          <p:nvPr/>
        </p:nvCxnSpPr>
        <p:spPr>
          <a:xfrm flipV="1">
            <a:off x="2375068" y="4076682"/>
            <a:ext cx="784034" cy="480631"/>
          </a:xfrm>
          <a:prstGeom prst="bentConnector3">
            <a:avLst>
              <a:gd name="adj1" fmla="val 991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209AE2AA-DD01-6819-5556-CCF203C7881B}"/>
              </a:ext>
            </a:extLst>
          </p:cNvPr>
          <p:cNvCxnSpPr/>
          <p:nvPr/>
        </p:nvCxnSpPr>
        <p:spPr>
          <a:xfrm>
            <a:off x="2013347" y="4182742"/>
            <a:ext cx="753738" cy="374571"/>
          </a:xfrm>
          <a:prstGeom prst="bentConnector3">
            <a:avLst>
              <a:gd name="adj1" fmla="val 17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55454DE-E65B-1B5B-FEB3-C1775DF54713}"/>
              </a:ext>
            </a:extLst>
          </p:cNvPr>
          <p:cNvSpPr txBox="1"/>
          <p:nvPr/>
        </p:nvSpPr>
        <p:spPr>
          <a:xfrm>
            <a:off x="5009013" y="3782863"/>
            <a:ext cx="5989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</a:t>
            </a:r>
            <a:r>
              <a:rPr lang="en-VN" b="1" dirty="0"/>
              <a:t>allowance</a:t>
            </a:r>
            <a:r>
              <a:rPr lang="en-VN" dirty="0"/>
              <a:t> goes directly to </a:t>
            </a:r>
            <a:r>
              <a:rPr lang="en-VN" dirty="0">
                <a:solidFill>
                  <a:srgbClr val="FF0000"/>
                </a:solidFill>
              </a:rPr>
              <a:t>3NF</a:t>
            </a:r>
            <a:r>
              <a:rPr lang="en-VN" dirty="0"/>
              <a:t> after being separated, because now there is no partial or transitive dependency</a:t>
            </a:r>
          </a:p>
        </p:txBody>
      </p:sp>
    </p:spTree>
    <p:extLst>
      <p:ext uri="{BB962C8B-B14F-4D97-AF65-F5344CB8AC3E}">
        <p14:creationId xmlns:p14="http://schemas.microsoft.com/office/powerpoint/2010/main" val="388488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DDBAE2-0A8C-C339-5669-D364B37EE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362162"/>
              </p:ext>
            </p:extLst>
          </p:nvPr>
        </p:nvGraphicFramePr>
        <p:xfrm>
          <a:off x="749147" y="2635862"/>
          <a:ext cx="2921000" cy="4614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57581567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733436895"/>
                    </a:ext>
                  </a:extLst>
                </a:gridCol>
              </a:tblGrid>
              <a:tr h="461434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credit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32283"/>
                  </a:ext>
                </a:extLst>
              </a:tr>
            </a:tbl>
          </a:graphicData>
        </a:graphic>
      </p:graphicFrame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2913D90B-A95A-5CD3-0CBC-F8C73293F353}"/>
              </a:ext>
            </a:extLst>
          </p:cNvPr>
          <p:cNvCxnSpPr>
            <a:cxnSpLocks/>
          </p:cNvCxnSpPr>
          <p:nvPr/>
        </p:nvCxnSpPr>
        <p:spPr>
          <a:xfrm flipV="1">
            <a:off x="1931012" y="3189268"/>
            <a:ext cx="784034" cy="480631"/>
          </a:xfrm>
          <a:prstGeom prst="bentConnector3">
            <a:avLst>
              <a:gd name="adj1" fmla="val 991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C20383C4-E9F8-1961-B2EE-C824F248C7BD}"/>
              </a:ext>
            </a:extLst>
          </p:cNvPr>
          <p:cNvCxnSpPr/>
          <p:nvPr/>
        </p:nvCxnSpPr>
        <p:spPr>
          <a:xfrm>
            <a:off x="1569291" y="3295328"/>
            <a:ext cx="753738" cy="374571"/>
          </a:xfrm>
          <a:prstGeom prst="bentConnector3">
            <a:avLst>
              <a:gd name="adj1" fmla="val 17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B2394F-BD99-B8D1-681D-E52168AAC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034147"/>
              </p:ext>
            </p:extLst>
          </p:nvPr>
        </p:nvGraphicFramePr>
        <p:xfrm>
          <a:off x="749147" y="4087074"/>
          <a:ext cx="2921000" cy="4614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57581567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733436895"/>
                    </a:ext>
                  </a:extLst>
                </a:gridCol>
              </a:tblGrid>
              <a:tr h="461434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tutor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32283"/>
                  </a:ext>
                </a:extLst>
              </a:tr>
            </a:tbl>
          </a:graphicData>
        </a:graphic>
      </p:graphicFrame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6C079943-7184-6E9D-696B-DC88D83E321A}"/>
              </a:ext>
            </a:extLst>
          </p:cNvPr>
          <p:cNvCxnSpPr>
            <a:cxnSpLocks/>
          </p:cNvCxnSpPr>
          <p:nvPr/>
        </p:nvCxnSpPr>
        <p:spPr>
          <a:xfrm flipV="1">
            <a:off x="1931012" y="4640480"/>
            <a:ext cx="784034" cy="480631"/>
          </a:xfrm>
          <a:prstGeom prst="bentConnector3">
            <a:avLst>
              <a:gd name="adj1" fmla="val 991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C3FF675-35D6-0A64-0B90-9FB04F184D75}"/>
              </a:ext>
            </a:extLst>
          </p:cNvPr>
          <p:cNvCxnSpPr/>
          <p:nvPr/>
        </p:nvCxnSpPr>
        <p:spPr>
          <a:xfrm>
            <a:off x="1569291" y="4746540"/>
            <a:ext cx="753738" cy="374571"/>
          </a:xfrm>
          <a:prstGeom prst="bentConnector3">
            <a:avLst>
              <a:gd name="adj1" fmla="val 17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CCDB75-A9B5-C09D-F544-6AC083340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649219"/>
              </p:ext>
            </p:extLst>
          </p:nvPr>
        </p:nvGraphicFramePr>
        <p:xfrm>
          <a:off x="749147" y="5307569"/>
          <a:ext cx="2921000" cy="4614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57581567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733436895"/>
                    </a:ext>
                  </a:extLst>
                </a:gridCol>
              </a:tblGrid>
              <a:tr h="461434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allowance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32283"/>
                  </a:ext>
                </a:extLst>
              </a:tr>
            </a:tbl>
          </a:graphicData>
        </a:graphic>
      </p:graphicFrame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F9C12082-1EAD-F143-5D8F-0081EA6C5D60}"/>
              </a:ext>
            </a:extLst>
          </p:cNvPr>
          <p:cNvCxnSpPr>
            <a:cxnSpLocks/>
          </p:cNvCxnSpPr>
          <p:nvPr/>
        </p:nvCxnSpPr>
        <p:spPr>
          <a:xfrm flipV="1">
            <a:off x="1931012" y="5860975"/>
            <a:ext cx="784034" cy="480631"/>
          </a:xfrm>
          <a:prstGeom prst="bentConnector3">
            <a:avLst>
              <a:gd name="adj1" fmla="val 991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18BDB67B-4077-E335-60EB-A2B2D49F221F}"/>
              </a:ext>
            </a:extLst>
          </p:cNvPr>
          <p:cNvCxnSpPr/>
          <p:nvPr/>
        </p:nvCxnSpPr>
        <p:spPr>
          <a:xfrm>
            <a:off x="1569291" y="5967035"/>
            <a:ext cx="753738" cy="374571"/>
          </a:xfrm>
          <a:prstGeom prst="bentConnector3">
            <a:avLst>
              <a:gd name="adj1" fmla="val 17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4609456-9DCC-C896-A6C4-FDF23A5A8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664078"/>
              </p:ext>
            </p:extLst>
          </p:nvPr>
        </p:nvGraphicFramePr>
        <p:xfrm>
          <a:off x="749147" y="1568869"/>
          <a:ext cx="4644572" cy="5913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7694218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3805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928416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77236145"/>
                    </a:ext>
                  </a:extLst>
                </a:gridCol>
              </a:tblGrid>
              <a:tr h="591341"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u="sng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mark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tutor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14884"/>
                  </a:ext>
                </a:extLst>
              </a:tr>
            </a:tbl>
          </a:graphicData>
        </a:graphic>
      </p:graphicFrame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7267DE3A-60BD-E040-ADE5-5B73AF93B448}"/>
              </a:ext>
            </a:extLst>
          </p:cNvPr>
          <p:cNvCxnSpPr/>
          <p:nvPr/>
        </p:nvCxnSpPr>
        <p:spPr>
          <a:xfrm>
            <a:off x="2368717" y="1083385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1A56751-73AA-7450-CCFB-B002FB9A923A}"/>
              </a:ext>
            </a:extLst>
          </p:cNvPr>
          <p:cNvCxnSpPr/>
          <p:nvPr/>
        </p:nvCxnSpPr>
        <p:spPr>
          <a:xfrm>
            <a:off x="3485093" y="1083385"/>
            <a:ext cx="1266940" cy="432453"/>
          </a:xfrm>
          <a:prstGeom prst="bentConnector3">
            <a:avLst>
              <a:gd name="adj1" fmla="val 995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EFC53623-6FC8-F7DD-46B3-97EDB09EBA79}"/>
              </a:ext>
            </a:extLst>
          </p:cNvPr>
          <p:cNvCxnSpPr/>
          <p:nvPr/>
        </p:nvCxnSpPr>
        <p:spPr>
          <a:xfrm flipV="1">
            <a:off x="1487368" y="1083384"/>
            <a:ext cx="1255923" cy="432453"/>
          </a:xfrm>
          <a:prstGeom prst="bentConnector3">
            <a:avLst>
              <a:gd name="adj1" fmla="val 87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A1A9A8-95A3-74F5-F58E-D96C8F5BCCFA}"/>
              </a:ext>
            </a:extLst>
          </p:cNvPr>
          <p:cNvCxnSpPr/>
          <p:nvPr/>
        </p:nvCxnSpPr>
        <p:spPr>
          <a:xfrm flipV="1">
            <a:off x="2368717" y="1083384"/>
            <a:ext cx="0" cy="4324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934480B-40F3-4A21-6C8C-B28D1AA29878}"/>
              </a:ext>
            </a:extLst>
          </p:cNvPr>
          <p:cNvSpPr txBox="1"/>
          <p:nvPr/>
        </p:nvSpPr>
        <p:spPr>
          <a:xfrm>
            <a:off x="4385071" y="2734160"/>
            <a:ext cx="598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</a:t>
            </a:r>
            <a:r>
              <a:rPr lang="en-VN" b="1" dirty="0"/>
              <a:t>credit</a:t>
            </a:r>
            <a:r>
              <a:rPr lang="en-VN" dirty="0"/>
              <a:t> goes directly to </a:t>
            </a:r>
            <a:r>
              <a:rPr lang="en-VN" dirty="0">
                <a:solidFill>
                  <a:srgbClr val="FF0000"/>
                </a:solidFill>
              </a:rPr>
              <a:t>3NF</a:t>
            </a:r>
            <a:r>
              <a:rPr lang="en-VN" dirty="0"/>
              <a:t> after being separated, because now there is no partial or transitive dependency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03DF93-37B4-8B23-6C78-D0A7F8AF1243}"/>
              </a:ext>
            </a:extLst>
          </p:cNvPr>
          <p:cNvSpPr txBox="1"/>
          <p:nvPr/>
        </p:nvSpPr>
        <p:spPr>
          <a:xfrm>
            <a:off x="5645509" y="1368111"/>
            <a:ext cx="6187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</a:t>
            </a:r>
            <a:r>
              <a:rPr lang="en-VN" b="1" dirty="0"/>
              <a:t>enrolment</a:t>
            </a:r>
            <a:r>
              <a:rPr lang="en-VN" dirty="0"/>
              <a:t> goes directly to </a:t>
            </a:r>
            <a:r>
              <a:rPr lang="en-VN" dirty="0">
                <a:solidFill>
                  <a:srgbClr val="FF0000"/>
                </a:solidFill>
              </a:rPr>
              <a:t>3NF</a:t>
            </a:r>
            <a:r>
              <a:rPr lang="en-VN" dirty="0"/>
              <a:t> after being separated, because now there is no partial or transitive dependency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0A4C1-A8B1-D939-105D-AD9D2D7B1B3D}"/>
              </a:ext>
            </a:extLst>
          </p:cNvPr>
          <p:cNvSpPr txBox="1"/>
          <p:nvPr/>
        </p:nvSpPr>
        <p:spPr>
          <a:xfrm>
            <a:off x="4385071" y="4100209"/>
            <a:ext cx="650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</a:t>
            </a:r>
            <a:r>
              <a:rPr lang="en-VN" b="1" dirty="0"/>
              <a:t>tutor_level</a:t>
            </a:r>
            <a:r>
              <a:rPr lang="en-VN" dirty="0"/>
              <a:t> goes directly to </a:t>
            </a:r>
            <a:r>
              <a:rPr lang="en-VN" dirty="0">
                <a:solidFill>
                  <a:srgbClr val="FF0000"/>
                </a:solidFill>
              </a:rPr>
              <a:t>3NF</a:t>
            </a:r>
            <a:r>
              <a:rPr lang="en-VN" dirty="0"/>
              <a:t> after being separated, because now there is no partial or transitive dependency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0F33BA-47A1-26BF-D8D0-0CF0BA966F59}"/>
              </a:ext>
            </a:extLst>
          </p:cNvPr>
          <p:cNvSpPr txBox="1"/>
          <p:nvPr/>
        </p:nvSpPr>
        <p:spPr>
          <a:xfrm>
            <a:off x="4385071" y="5445837"/>
            <a:ext cx="650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Table </a:t>
            </a:r>
            <a:r>
              <a:rPr lang="en-VN" b="1" dirty="0"/>
              <a:t>allowance</a:t>
            </a:r>
            <a:r>
              <a:rPr lang="en-VN" dirty="0"/>
              <a:t> goes directly to </a:t>
            </a:r>
            <a:r>
              <a:rPr lang="en-VN" dirty="0">
                <a:solidFill>
                  <a:srgbClr val="FF0000"/>
                </a:solidFill>
              </a:rPr>
              <a:t>3NF</a:t>
            </a:r>
            <a:r>
              <a:rPr lang="en-VN" dirty="0"/>
              <a:t> after being separated, because now there is no partial or transitive dependency</a:t>
            </a:r>
          </a:p>
        </p:txBody>
      </p:sp>
    </p:spTree>
    <p:extLst>
      <p:ext uri="{BB962C8B-B14F-4D97-AF65-F5344CB8AC3E}">
        <p14:creationId xmlns:p14="http://schemas.microsoft.com/office/powerpoint/2010/main" val="2037938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241</Words>
  <Application>Microsoft Macintosh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b1112015344@student.westernsydney.edu.vn</dc:creator>
  <cp:lastModifiedBy>b1112015344@student.westernsydney.edu.vn</cp:lastModifiedBy>
  <cp:revision>1</cp:revision>
  <dcterms:created xsi:type="dcterms:W3CDTF">2024-10-08T12:11:29Z</dcterms:created>
  <dcterms:modified xsi:type="dcterms:W3CDTF">2024-10-08T13:47:15Z</dcterms:modified>
</cp:coreProperties>
</file>